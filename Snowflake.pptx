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5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162" autoAdjust="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outlineViewPr>
    <p:cViewPr>
      <p:scale>
        <a:sx n="33" d="100"/>
        <a:sy n="33" d="100"/>
      </p:scale>
      <p:origin x="0" y="-7411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B53DC6-B776-45D8-9E21-B1A2E4C241C8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252FB-61B4-409B-9F1F-1040A89816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9177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snowflake.com/en/sql-reference/sql/copy-into-location" TargetMode="External"/><Relationship Id="rId3" Type="http://schemas.openxmlformats.org/officeDocument/2006/relationships/hyperlink" Target="https://docs.snowflake.com/en/sql-reference/sql/select" TargetMode="External"/><Relationship Id="rId7" Type="http://schemas.openxmlformats.org/officeDocument/2006/relationships/hyperlink" Target="https://docs.snowflake.com/en/sql-reference/sql/copy-into-table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docs.snowflake.com/en/sql-reference/sql/update" TargetMode="External"/><Relationship Id="rId5" Type="http://schemas.openxmlformats.org/officeDocument/2006/relationships/hyperlink" Target="https://docs.snowflake.com/en/sql-reference/sql/insert" TargetMode="External"/><Relationship Id="rId4" Type="http://schemas.openxmlformats.org/officeDocument/2006/relationships/hyperlink" Target="https://docs.snowflake.com/en/sql-reference/sql/delete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warehouse provides the required resources, such as CPU, memory, and temporary storage, to perform the following operations in a Snowflake session: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Executing SQL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SELECT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statements that require compute resources (for example, retrieving rows from tables and views).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Performing DML operations, such as: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Updating rows in tables (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DELETE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,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INSERT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,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UPDATE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Loading data into tables (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/>
              </a:rPr>
              <a:t>COPY INTO &lt;table&gt;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Unloading data from tables (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/>
              </a:rPr>
              <a:t>COPY INTO &lt;location&gt;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252FB-61B4-409B-9F1F-1040A89816A3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7918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252FB-61B4-409B-9F1F-1040A89816A3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2962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Virtual Warehouse solves the problem of resource contention, scaling limitations, workload interference, and cost inefficiency by providing independent, elastic, and auto-managed compute clusters.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252FB-61B4-409B-9F1F-1040A89816A3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1637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3B7B3-127B-2421-AE55-93127C713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D2E4B3-971C-9CC0-7EB8-85B7ACAEEF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D7265-780B-77CD-20AE-0C24CE45C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AF184-69E2-4414-86D1-7B4CE79C8E0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6659A-6C68-67F5-EC00-ADB4BEA7E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53BCC-09C7-F6D5-EAF2-E33036A73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06577-C001-4493-B75E-5209AA9B8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1783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D8E79-4A98-5CD0-92FA-144938507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5DA2B-EF0E-6B6E-AA6E-433CD0E7A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9AEED-F8A6-0EB8-EAF0-0F35097CD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AF184-69E2-4414-86D1-7B4CE79C8E0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43C2D-0E66-09C4-6365-45D466EF9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B9812-475F-99BF-247C-F8A3258D9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06577-C001-4493-B75E-5209AA9B8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950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DC5DB-BE05-B6FF-E8AE-539439F52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821177-917B-714A-FA48-DC80B2A57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F75F9-9ECC-5D34-CD2D-3E13CC876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AF184-69E2-4414-86D1-7B4CE79C8E0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0FC33-24F1-6160-6CF4-9E2E5A58E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88121-4C33-E417-43E3-5CB2E3C35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06577-C001-4493-B75E-5209AA9B8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023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9C2AC-2C71-1777-3A13-797ABD3D4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351BB-0045-D91C-41B9-DAA4A15FE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1D12C3-9398-99EF-612B-B150E3F5C8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16B505-CF3B-552A-49F8-4B199B167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AF184-69E2-4414-86D1-7B4CE79C8E0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B9F431-0AF2-35EA-C072-559F71E92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DE7C33-BB4D-7EDD-42C5-65D5959B1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06577-C001-4493-B75E-5209AA9B8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3042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F15FA-49F0-114E-F7A6-8FF079160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7F832-64E2-262E-FAE8-C8E96F02CE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3728D6-A072-2D2E-46D3-24428E1B1E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6EAE1D-AE23-39D3-6944-D4C8640255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8F58B4-FB62-36B6-2E94-C4617EF59F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E901F7-4420-D76F-CC9A-A7FAD3BFD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AF184-69E2-4414-86D1-7B4CE79C8E0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0C3E5B-F21D-5FAE-8B9E-116E8A855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BA42E6-E6DD-D55C-A120-AFC1C1F8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06577-C001-4493-B75E-5209AA9B8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413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BA9A1-4E00-1F93-1EE7-5A89113DC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C5CC43-00DA-E734-3FE6-EA3799059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AF184-69E2-4414-86D1-7B4CE79C8E0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19EC7-728E-0774-1A14-235A5955D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DB0E1D-96D9-2944-2CA4-403E14E61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06577-C001-4493-B75E-5209AA9B8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118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54503C-1E88-C031-EB4B-97DC13027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AF184-69E2-4414-86D1-7B4CE79C8E0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3A4DEE-2E13-B21E-B660-1CA2BB16D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AB3B9-3CA8-FC04-D564-942BD4534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06577-C001-4493-B75E-5209AA9B8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9362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10C94-70EB-46EF-6907-0AFA5E4C2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16FD-6B53-58E6-2D09-B83A787C6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6E7C43-2727-C683-7F8A-B9D99A36E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78763A-ED00-4937-A94B-2ED5A9A0D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AF184-69E2-4414-86D1-7B4CE79C8E0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056616-11CA-D031-5969-D1A65079A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C5EA17-F73E-4521-222F-C7144037E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06577-C001-4493-B75E-5209AA9B8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570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5E3C0-A87C-691C-1C59-CDCDE0C8E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690659-2A62-0DC1-AF1F-5ADC639953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DCFEBE-CBA1-F9BF-7DF9-78C2EB3951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29B76-AAB5-6F5E-4BDF-9B2FCE7A5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AF184-69E2-4414-86D1-7B4CE79C8E0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80BB45-3641-2BD1-56BE-527C8DAE7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3271A-EF0B-0E3F-4E62-B3D22BD95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06577-C001-4493-B75E-5209AA9B8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996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124FB-6091-4B0D-D8CA-A17E3C9C3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C4CE66-3062-AA8B-7D09-0C5284453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76CC3-9D3A-7473-35B1-36877F0A3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AF184-69E2-4414-86D1-7B4CE79C8E0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85CA1C-3DDB-112A-1C58-2A5144E7C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305B7-5EB2-5BFD-339C-5E0AFC5C4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06577-C001-4493-B75E-5209AA9B8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6393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20CB5C-547C-9A49-F45A-FBADF2AFAF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DA0561-F849-6FBE-3C96-F115E2C3F2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1DEBC-FB38-2F2F-6613-C149E0430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AF184-69E2-4414-86D1-7B4CE79C8E0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4B49B-DDE8-5CE2-7C80-7E55C19E4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58505-E19E-4E3D-9538-FCE76BBB8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06577-C001-4493-B75E-5209AA9B8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866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9E01A5-94C2-DE08-D61C-98497072D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332B2-8DE6-75EB-68BE-0A07818D15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082DB-C6CB-1698-A22B-5A7DDA249E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AAF184-69E2-4414-86D1-7B4CE79C8E0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CF695-65AC-619D-74FF-7536D56AF6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3CDD3-D929-8D99-3A27-C9850DE03F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206577-C001-4493-B75E-5209AA9B8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657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nowflake.com/en/user-guide/intro-key-concepts#label-intro-key-concepts-storage-iceberg-tables" TargetMode="External"/><Relationship Id="rId2" Type="http://schemas.openxmlformats.org/officeDocument/2006/relationships/hyperlink" Target="https://docs.snowflake.com/en/user-guide/intro-key-concepts#label-intro-key-concepts-storage-snowflake-table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snowflake.com/en/user-guide/intro-key-concepts#label-intro-key-concepts-storage-hybrid-tables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snowflake.com/en/guides-overview-performance" TargetMode="External"/><Relationship Id="rId3" Type="http://schemas.openxmlformats.org/officeDocument/2006/relationships/hyperlink" Target="https://docs.snowflake.com/en/guides-overview-secure" TargetMode="External"/><Relationship Id="rId7" Type="http://schemas.openxmlformats.org/officeDocument/2006/relationships/hyperlink" Target="https://docs.snowflake.com/en/sql-reference/info-schema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snowflake.com/en/sql-reference/snowflake-db" TargetMode="External"/><Relationship Id="rId5" Type="http://schemas.openxmlformats.org/officeDocument/2006/relationships/hyperlink" Target="https://docs.snowflake.com/en/user-guide/intro-cloud-platforms" TargetMode="External"/><Relationship Id="rId4" Type="http://schemas.openxmlformats.org/officeDocument/2006/relationships/hyperlink" Target="https://docs.snowflake.com/en/user-guide/snowflake-horizon" TargetMode="External"/><Relationship Id="rId9" Type="http://schemas.openxmlformats.org/officeDocument/2006/relationships/hyperlink" Target="https://docs.snowflake.com/en/user-guide/intro-compliance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3DE32-BB94-F976-226A-1049DBED4E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Snowflake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D024E5-FA12-DB40-FD91-B4213BBC01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648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FC2E8-36F9-CCE3-D23B-3222E4645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Snowflake?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B901A-89D8-D379-AA33-CEC0857CE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Definition</a:t>
            </a:r>
          </a:p>
          <a:p>
            <a:r>
              <a:rPr lang="en-IN" b="1" dirty="0"/>
              <a:t>Snowflake</a:t>
            </a:r>
            <a:r>
              <a:rPr lang="en-IN" dirty="0"/>
              <a:t> is a </a:t>
            </a:r>
            <a:r>
              <a:rPr lang="en-IN" b="1" dirty="0"/>
              <a:t>cloud-native data warehouse platform</a:t>
            </a:r>
            <a:r>
              <a:rPr lang="en-IN" dirty="0"/>
              <a:t> built for:</a:t>
            </a:r>
          </a:p>
          <a:p>
            <a:pPr lvl="1"/>
            <a:r>
              <a:rPr lang="en-IN" dirty="0"/>
              <a:t>Data warehousing</a:t>
            </a:r>
          </a:p>
          <a:p>
            <a:pPr lvl="1"/>
            <a:r>
              <a:rPr lang="en-IN" dirty="0"/>
              <a:t>Data lakes</a:t>
            </a:r>
          </a:p>
          <a:p>
            <a:pPr lvl="1"/>
            <a:r>
              <a:rPr lang="en-IN" dirty="0"/>
              <a:t>Data engineering</a:t>
            </a:r>
          </a:p>
          <a:p>
            <a:pPr lvl="1"/>
            <a:r>
              <a:rPr lang="en-IN" dirty="0"/>
              <a:t>Data science</a:t>
            </a:r>
          </a:p>
          <a:p>
            <a:pPr lvl="1"/>
            <a:r>
              <a:rPr lang="en-IN" dirty="0"/>
              <a:t>Data sharing</a:t>
            </a:r>
          </a:p>
          <a:p>
            <a:pPr lvl="1"/>
            <a:r>
              <a:rPr lang="en-IN" dirty="0"/>
              <a:t>Real-time analytics</a:t>
            </a:r>
          </a:p>
          <a:p>
            <a:r>
              <a:rPr lang="en-IN" dirty="0"/>
              <a:t>Unlike traditional databases, Snowflake is:</a:t>
            </a:r>
          </a:p>
          <a:p>
            <a:pPr lvl="1"/>
            <a:r>
              <a:rPr lang="en-IN" dirty="0"/>
              <a:t>Fully managed SaaS</a:t>
            </a:r>
          </a:p>
          <a:p>
            <a:pPr lvl="1"/>
            <a:r>
              <a:rPr lang="en-IN" dirty="0"/>
              <a:t>Multi-cloud (runs on Amazon Web Services, Microsoft Azure, Google Cloud Platform)</a:t>
            </a:r>
          </a:p>
          <a:p>
            <a:pPr lvl="1"/>
            <a:r>
              <a:rPr lang="en-IN" dirty="0"/>
              <a:t>Elastic &amp; scalable</a:t>
            </a:r>
          </a:p>
          <a:p>
            <a:pPr lvl="1"/>
            <a:r>
              <a:rPr lang="en-IN" dirty="0"/>
              <a:t>Separates compute &amp; storage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2910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8E6AE-A479-E689-E322-49C04F95F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Snowflake is Popular?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44825-E6A6-4EE6-54D6-D054E54EE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✔ No infrastructure management</a:t>
            </a:r>
            <a:br>
              <a:rPr lang="en-US" dirty="0"/>
            </a:br>
            <a:r>
              <a:rPr lang="en-US" dirty="0"/>
              <a:t>✔ Automatic scaling</a:t>
            </a:r>
            <a:br>
              <a:rPr lang="en-US" dirty="0"/>
            </a:br>
            <a:r>
              <a:rPr lang="en-US" dirty="0"/>
              <a:t>✔ High concurrency</a:t>
            </a:r>
            <a:br>
              <a:rPr lang="en-US" dirty="0"/>
            </a:br>
            <a:r>
              <a:rPr lang="en-US" dirty="0"/>
              <a:t>✔ Built-in security &amp; governance</a:t>
            </a:r>
            <a:br>
              <a:rPr lang="en-US" dirty="0"/>
            </a:br>
            <a:r>
              <a:rPr lang="en-US" dirty="0"/>
              <a:t>✔ Pay only for what you use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0012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4BF5A-A778-3157-E2C3-B8B7BC59C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Snowflake vs Traditional Databases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40F6B99-A8FE-DF9F-18FF-2A294ED91D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4274910"/>
              </p:ext>
            </p:extLst>
          </p:nvPr>
        </p:nvGraphicFramePr>
        <p:xfrm>
          <a:off x="838200" y="2011680"/>
          <a:ext cx="10515600" cy="28346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91449147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494888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9458044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Traditional DB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Snowflake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353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Deployment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On-premise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Cloud-native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9521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Scaling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Vertical (add CPU/RAM)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Horizontal (scale warehouses independently)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1951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Storage &amp; Compute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Coupled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Fully separated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3377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Maintenance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Manual tuning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Automatic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149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Sharing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Complex ETL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Secure data sharing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24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Pricing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Fixed infrastructure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Usage-based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94909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9587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25196-5271-851E-F4C4-54DAEE821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Architecture Difference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1241B-65CA-5AD2-1702-E6C288E4C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Traditional DB (like Oracle Database or MySQL):</a:t>
            </a:r>
          </a:p>
          <a:p>
            <a:pPr lvl="1"/>
            <a:r>
              <a:rPr lang="en-US" dirty="0"/>
              <a:t>Storage + Compute tightly coupled</a:t>
            </a:r>
          </a:p>
          <a:p>
            <a:pPr lvl="1"/>
            <a:r>
              <a:rPr lang="en-US" dirty="0"/>
              <a:t>Scaling affects entire system</a:t>
            </a:r>
          </a:p>
          <a:p>
            <a:r>
              <a:rPr lang="en-IN" dirty="0"/>
              <a:t>Snowflake:</a:t>
            </a:r>
          </a:p>
          <a:p>
            <a:pPr lvl="1"/>
            <a:r>
              <a:rPr lang="en-IN" dirty="0"/>
              <a:t>Storage  → Independent</a:t>
            </a:r>
          </a:p>
          <a:p>
            <a:pPr lvl="1"/>
            <a:r>
              <a:rPr lang="en-IN" dirty="0"/>
              <a:t>Compute  → Independent</a:t>
            </a:r>
          </a:p>
          <a:p>
            <a:pPr lvl="1"/>
            <a:r>
              <a:rPr lang="en-IN" dirty="0"/>
              <a:t>Cloud Services → Manages metadata</a:t>
            </a:r>
          </a:p>
          <a:p>
            <a:pPr marL="0" indent="0">
              <a:buNone/>
            </a:pPr>
            <a:r>
              <a:rPr lang="en-US" dirty="0"/>
              <a:t>This separation is the game-changer.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4814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BCE19-6BC7-7F4E-0E6F-5D345E846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Snowflake Cloud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87261-DE23-9B62-F273-0AF83ECF2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Snowflake has </a:t>
            </a:r>
            <a:r>
              <a:rPr lang="en-US" b="1" dirty="0"/>
              <a:t>3 main layers</a:t>
            </a:r>
            <a:r>
              <a:rPr lang="en-US" dirty="0"/>
              <a:t>:</a:t>
            </a:r>
          </a:p>
          <a:p>
            <a:r>
              <a:rPr lang="en-IN" dirty="0"/>
              <a:t>Storage Layer</a:t>
            </a:r>
          </a:p>
          <a:p>
            <a:r>
              <a:rPr lang="en-IN" dirty="0"/>
              <a:t>Compute Layer (Virtual Warehouses)</a:t>
            </a:r>
          </a:p>
          <a:p>
            <a:r>
              <a:rPr lang="en-IN" dirty="0"/>
              <a:t>Cloud Services Layer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1E70BD-84C8-68EC-BFF7-463E1DFF4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3844" y="1433300"/>
            <a:ext cx="6213929" cy="441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664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7F177-3347-D5DD-06DF-2504630F9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7EDB1-2DD2-3F46-C68D-9B99D30CE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Snowflake Cloud Architecture - Storage Layer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D9575-651E-961F-AEDC-4093FA2FA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Stores data in cloud storage</a:t>
            </a:r>
          </a:p>
          <a:p>
            <a:r>
              <a:rPr lang="en-US" dirty="0"/>
              <a:t>Compressed &amp; columnar format</a:t>
            </a:r>
          </a:p>
          <a:p>
            <a:r>
              <a:rPr lang="en-US" dirty="0"/>
              <a:t>Automatically partitioned into </a:t>
            </a:r>
            <a:r>
              <a:rPr lang="en-US" b="1" dirty="0"/>
              <a:t>micro-partitions</a:t>
            </a:r>
            <a:endParaRPr lang="en-US" dirty="0"/>
          </a:p>
          <a:p>
            <a:r>
              <a:rPr lang="en-US" dirty="0"/>
              <a:t>Managed by Snowflake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User does NOT manage files.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8248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3D322-40CE-0454-D795-91FA7BFFC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2F956-F737-A5CD-4BB2-0662AE3FD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Snowflake Cloud Architecture - Storage Layer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17B5D-5C89-37EA-01D4-7F0EFC413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Snowflake supports the following kinds of data:</a:t>
            </a:r>
          </a:p>
          <a:p>
            <a:r>
              <a:rPr lang="en-US" i="1" dirty="0"/>
              <a:t>Structured data</a:t>
            </a:r>
            <a:r>
              <a:rPr lang="en-US" dirty="0"/>
              <a:t> — such as rows and columns in a table — follows a strict tabular schema.</a:t>
            </a:r>
          </a:p>
          <a:p>
            <a:r>
              <a:rPr lang="en-US" i="1" dirty="0"/>
              <a:t>Semi-structured data</a:t>
            </a:r>
            <a:r>
              <a:rPr lang="en-US" dirty="0"/>
              <a:t> — such as a JSON file or an XML file — has a flexible schema.</a:t>
            </a:r>
          </a:p>
          <a:p>
            <a:r>
              <a:rPr lang="en-US" i="1" dirty="0"/>
              <a:t>Unstructured data</a:t>
            </a:r>
            <a:r>
              <a:rPr lang="en-US" dirty="0"/>
              <a:t> — such as a document, image, or audio file — has no inherent schema.</a:t>
            </a:r>
          </a:p>
          <a:p>
            <a:pPr marL="0" indent="0">
              <a:buNone/>
            </a:pPr>
            <a:r>
              <a:rPr lang="en-US" dirty="0"/>
              <a:t>Snowflake supports several types of tables for data storage, including the following table types:</a:t>
            </a:r>
          </a:p>
          <a:p>
            <a:r>
              <a:rPr lang="en-US" dirty="0">
                <a:hlinkClick r:id="rId2"/>
              </a:rPr>
              <a:t>Snowflake tables</a:t>
            </a:r>
            <a:endParaRPr lang="en-US" dirty="0"/>
          </a:p>
          <a:p>
            <a:r>
              <a:rPr lang="en-US" dirty="0">
                <a:hlinkClick r:id="rId3"/>
              </a:rPr>
              <a:t>Apache Iceberg™ tables</a:t>
            </a:r>
            <a:endParaRPr lang="en-US" dirty="0"/>
          </a:p>
          <a:p>
            <a:r>
              <a:rPr lang="en-US" dirty="0">
                <a:hlinkClick r:id="rId4"/>
              </a:rPr>
              <a:t>Hybrid tables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Refer : https://docs.snowflake.com/en/user-guide/intro-key-concepts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976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E25B9-ADE0-B7E2-85FB-08B7FC921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Snowflake Cloud Architecture - Compute Layer (Virtual Warehouses)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B0211-1A59-A7DC-E76E-F37DB3180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A virtual warehouse, often referred to simply as a “warehouse”, is a cluster of compute resources in Snowflake. A virtual warehouse is available in two types:</a:t>
            </a:r>
          </a:p>
          <a:p>
            <a:pPr lvl="1"/>
            <a:r>
              <a:rPr lang="en-US" dirty="0"/>
              <a:t>Standard</a:t>
            </a:r>
          </a:p>
          <a:p>
            <a:pPr lvl="1"/>
            <a:r>
              <a:rPr lang="en-US" dirty="0"/>
              <a:t>Snowpark-optimized</a:t>
            </a:r>
          </a:p>
          <a:p>
            <a:r>
              <a:rPr lang="en-US" dirty="0"/>
              <a:t>Executes queries</a:t>
            </a:r>
          </a:p>
          <a:p>
            <a:r>
              <a:rPr lang="en-US" dirty="0"/>
              <a:t>Can create multiple warehouses</a:t>
            </a:r>
          </a:p>
          <a:p>
            <a:r>
              <a:rPr lang="en-US" dirty="0"/>
              <a:t>Each warehouse is independent</a:t>
            </a:r>
          </a:p>
          <a:p>
            <a:r>
              <a:rPr lang="en-US" dirty="0"/>
              <a:t>Auto start / Auto suspend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/>
              <a:t>BI team → Warehouse A</a:t>
            </a:r>
          </a:p>
          <a:p>
            <a:r>
              <a:rPr lang="en-US" dirty="0"/>
              <a:t>Data Engineering → Warehouse B</a:t>
            </a:r>
          </a:p>
          <a:p>
            <a:r>
              <a:rPr lang="en-US" dirty="0"/>
              <a:t>Data Science → Warehouse C</a:t>
            </a:r>
          </a:p>
          <a:p>
            <a:pPr marL="0" indent="0">
              <a:buNone/>
            </a:pPr>
            <a:r>
              <a:rPr lang="en-US" dirty="0"/>
              <a:t>No resource contention!</a:t>
            </a:r>
          </a:p>
          <a:p>
            <a:endParaRPr lang="en-IN" dirty="0"/>
          </a:p>
        </p:txBody>
      </p:sp>
      <p:pic>
        <p:nvPicPr>
          <p:cNvPr id="5122" name="Picture 2" descr="Snowflake's Virtual Warehouse: Know the Unknowns !! | by Somen Swain |  Snowflake Builders Blog: Data Engineers, App Developers, AI, &amp; Data Science  | Medium">
            <a:extLst>
              <a:ext uri="{FF2B5EF4-FFF2-40B4-BE49-F238E27FC236}">
                <a16:creationId xmlns:a16="http://schemas.microsoft.com/office/drawing/2014/main" id="{9B408290-F61E-D709-358A-F646B72A5D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4232" y="2331827"/>
            <a:ext cx="3734044" cy="4090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3534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1FB1E-CFEE-3D81-6E67-D67415A42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Snowflake Cloud Architecture - Cloud Services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AFC9F-CF50-4736-3D32-79E16C227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The cloud services layer is a collection of services that coordinate activities across Snowflake. These services tie together all of the different components of Snowflake in order to process user requests, from sign-in to query dispatch. The cloud services layer also runs on compute instances that are provisioned by Snowflake from the cloud provider.</a:t>
            </a:r>
          </a:p>
          <a:p>
            <a:pPr marL="0" indent="0">
              <a:buNone/>
            </a:pPr>
            <a:r>
              <a:rPr lang="en-US" dirty="0"/>
              <a:t>Services managed in this layer include the following:</a:t>
            </a:r>
          </a:p>
          <a:p>
            <a:pPr lvl="1"/>
            <a:r>
              <a:rPr lang="en-US" dirty="0">
                <a:hlinkClick r:id="rId3"/>
              </a:rPr>
              <a:t>Security, authentication, and access control</a:t>
            </a:r>
            <a:endParaRPr lang="en-US" dirty="0"/>
          </a:p>
          <a:p>
            <a:pPr lvl="1"/>
            <a:r>
              <a:rPr lang="en-US" dirty="0">
                <a:hlinkClick r:id="rId4"/>
              </a:rPr>
              <a:t>Snowflake Horizon Catalog</a:t>
            </a:r>
            <a:endParaRPr lang="en-US" dirty="0"/>
          </a:p>
          <a:p>
            <a:pPr lvl="1"/>
            <a:r>
              <a:rPr lang="en-US" dirty="0">
                <a:hlinkClick r:id="rId5"/>
              </a:rPr>
              <a:t>Infrastructure management with cloud platforms</a:t>
            </a:r>
            <a:endParaRPr lang="en-US" dirty="0"/>
          </a:p>
          <a:p>
            <a:pPr lvl="1"/>
            <a:r>
              <a:rPr lang="en-US" dirty="0"/>
              <a:t>Metadata management, including the </a:t>
            </a:r>
            <a:r>
              <a:rPr lang="en-US" dirty="0">
                <a:hlinkClick r:id="rId6"/>
              </a:rPr>
              <a:t>SNOWFLAKE database</a:t>
            </a:r>
            <a:r>
              <a:rPr lang="en-US" dirty="0"/>
              <a:t> and the </a:t>
            </a:r>
            <a:r>
              <a:rPr lang="en-US" dirty="0">
                <a:hlinkClick r:id="rId7"/>
              </a:rPr>
              <a:t>Snowflake Information Schema</a:t>
            </a:r>
            <a:endParaRPr lang="en-US" dirty="0"/>
          </a:p>
          <a:p>
            <a:pPr lvl="1"/>
            <a:r>
              <a:rPr lang="en-US" dirty="0">
                <a:hlinkClick r:id="rId8"/>
              </a:rPr>
              <a:t>Query parsing and optimization</a:t>
            </a:r>
            <a:endParaRPr lang="en-US" dirty="0"/>
          </a:p>
          <a:p>
            <a:pPr lvl="1"/>
            <a:r>
              <a:rPr lang="en-US" dirty="0">
                <a:hlinkClick r:id="rId9"/>
              </a:rPr>
              <a:t>Regulatory compliance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Handles:</a:t>
            </a:r>
          </a:p>
          <a:p>
            <a:pPr lvl="1"/>
            <a:r>
              <a:rPr lang="en-US" dirty="0"/>
              <a:t>Authentication</a:t>
            </a:r>
          </a:p>
          <a:p>
            <a:pPr lvl="1"/>
            <a:r>
              <a:rPr lang="en-US" dirty="0"/>
              <a:t>Metadata</a:t>
            </a:r>
          </a:p>
          <a:p>
            <a:pPr lvl="1"/>
            <a:r>
              <a:rPr lang="en-US" dirty="0"/>
              <a:t>Query optimization</a:t>
            </a:r>
          </a:p>
          <a:p>
            <a:pPr lvl="1"/>
            <a:r>
              <a:rPr lang="en-US" dirty="0"/>
              <a:t>Transaction management</a:t>
            </a:r>
          </a:p>
          <a:p>
            <a:pPr lvl="1"/>
            <a:r>
              <a:rPr lang="en-US" dirty="0"/>
              <a:t>Access control</a:t>
            </a:r>
          </a:p>
          <a:p>
            <a:pPr marL="0" indent="0">
              <a:buNone/>
            </a:pPr>
            <a:r>
              <a:rPr lang="en-US" dirty="0"/>
              <a:t>Think of it as the “brain” of Snowflake.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612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D6C24-12E1-60E0-E686-5596489D3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Features- Virtual Warehouses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8F00F-08A0-E206-1CCB-3AE19359A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Independent compute clusters</a:t>
            </a:r>
          </a:p>
          <a:p>
            <a:r>
              <a:rPr lang="en-US" dirty="0"/>
              <a:t>Scale up (XS → 6XL)</a:t>
            </a:r>
          </a:p>
          <a:p>
            <a:r>
              <a:rPr lang="en-US" dirty="0"/>
              <a:t>Scale out (multi-cluster)</a:t>
            </a:r>
          </a:p>
          <a:p>
            <a:r>
              <a:rPr lang="en-US" dirty="0"/>
              <a:t>Auto suspend to save cost</a:t>
            </a:r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pPr marL="457200" lvl="1" indent="0">
              <a:buNone/>
            </a:pPr>
            <a:r>
              <a:rPr lang="en-US" dirty="0"/>
              <a:t>CREATE WAREHOUSE </a:t>
            </a:r>
            <a:r>
              <a:rPr lang="en-US" dirty="0" err="1"/>
              <a:t>training_wh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WAREHOUSE_SIZE = 'XSMALL'</a:t>
            </a:r>
          </a:p>
          <a:p>
            <a:pPr marL="457200" lvl="1" indent="0">
              <a:buNone/>
            </a:pPr>
            <a:r>
              <a:rPr lang="en-US" dirty="0"/>
              <a:t>AUTO_SUSPEND = 60</a:t>
            </a:r>
          </a:p>
          <a:p>
            <a:pPr marL="457200" lvl="1" indent="0">
              <a:buNone/>
            </a:pPr>
            <a:r>
              <a:rPr lang="en-US" dirty="0"/>
              <a:t>AUTO_RESUME = TRUE;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6577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A4E30-F5F1-C8B7-DA1B-3F0453A0E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Features- Time Travel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FE677-73AB-6F1F-7475-83AA01C02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Allows you to:</a:t>
            </a:r>
          </a:p>
          <a:p>
            <a:r>
              <a:rPr lang="en-US" dirty="0"/>
              <a:t>Query old data</a:t>
            </a:r>
          </a:p>
          <a:p>
            <a:r>
              <a:rPr lang="en-US" dirty="0"/>
              <a:t>Restore deleted tables</a:t>
            </a:r>
          </a:p>
          <a:p>
            <a:r>
              <a:rPr lang="en-US" dirty="0"/>
              <a:t>Recover from accidental DELETE</a:t>
            </a:r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US" dirty="0"/>
              <a:t>	SELECT * FROM employees AT (TIMESTAMP =&gt; '2026-02-10 10:00:00’);</a:t>
            </a:r>
          </a:p>
          <a:p>
            <a:pPr marL="0" indent="0">
              <a:buNone/>
            </a:pPr>
            <a:r>
              <a:rPr lang="en-US" dirty="0"/>
              <a:t>Retention:</a:t>
            </a:r>
          </a:p>
          <a:p>
            <a:r>
              <a:rPr lang="en-US" dirty="0"/>
              <a:t>Standard: 1 day</a:t>
            </a:r>
          </a:p>
          <a:p>
            <a:r>
              <a:rPr lang="en-US" dirty="0"/>
              <a:t>Enterprise: up to 90 days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0658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47A05-842B-C958-2CEC-4BEE95BC0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4D93A-1358-A47B-2316-3D2CF3F37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Features- Zero-Copy Cloning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3DB9B-B821-6778-FE2F-EE5BD70AA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Instantly clone:</a:t>
            </a:r>
          </a:p>
          <a:p>
            <a:pPr lvl="1"/>
            <a:r>
              <a:rPr lang="en-US" dirty="0"/>
              <a:t>Databases</a:t>
            </a:r>
          </a:p>
          <a:p>
            <a:pPr lvl="1"/>
            <a:r>
              <a:rPr lang="en-US" dirty="0"/>
              <a:t>Schemas</a:t>
            </a:r>
          </a:p>
          <a:p>
            <a:pPr lvl="1"/>
            <a:r>
              <a:rPr lang="en-US" dirty="0"/>
              <a:t>Tables</a:t>
            </a:r>
          </a:p>
          <a:p>
            <a:r>
              <a:rPr lang="en-US" dirty="0"/>
              <a:t>No physical copy</a:t>
            </a:r>
          </a:p>
          <a:p>
            <a:r>
              <a:rPr lang="en-US" dirty="0"/>
              <a:t>No extra storage cost (initially)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	CREATE DATABASE </a:t>
            </a:r>
            <a:r>
              <a:rPr lang="en-US" dirty="0" err="1"/>
              <a:t>test_db</a:t>
            </a:r>
            <a:r>
              <a:rPr lang="en-US" dirty="0"/>
              <a:t> CLONE </a:t>
            </a:r>
            <a:r>
              <a:rPr lang="en-US" dirty="0" err="1"/>
              <a:t>prod_db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Used heavily in:</a:t>
            </a:r>
          </a:p>
          <a:p>
            <a:r>
              <a:rPr lang="en-US" dirty="0"/>
              <a:t>Testing</a:t>
            </a:r>
          </a:p>
          <a:p>
            <a:r>
              <a:rPr lang="en-US" dirty="0"/>
              <a:t>Dev environments</a:t>
            </a:r>
          </a:p>
          <a:p>
            <a:r>
              <a:rPr lang="en-US" dirty="0"/>
              <a:t>CI/CD pipelines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0428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F8F80-0858-00D8-6715-685E6445E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Features- Micro-partitions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FB80D-42A9-B0A2-0506-59E78E7C4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Snowflake automatically:</a:t>
            </a:r>
          </a:p>
          <a:p>
            <a:pPr lvl="1"/>
            <a:r>
              <a:rPr lang="en-IN" dirty="0"/>
              <a:t>Divides data into 50–500 MB chunks</a:t>
            </a:r>
          </a:p>
          <a:p>
            <a:pPr lvl="1"/>
            <a:r>
              <a:rPr lang="en-IN" dirty="0"/>
              <a:t>Stores metadata about each partition</a:t>
            </a:r>
          </a:p>
          <a:p>
            <a:pPr lvl="1"/>
            <a:r>
              <a:rPr lang="en-IN" dirty="0"/>
              <a:t>Uses pruning for faster queries</a:t>
            </a:r>
          </a:p>
          <a:p>
            <a:pPr marL="0" indent="0">
              <a:buNone/>
            </a:pPr>
            <a:r>
              <a:rPr lang="en-IN" dirty="0"/>
              <a:t>Benefit:</a:t>
            </a:r>
          </a:p>
          <a:p>
            <a:pPr lvl="1"/>
            <a:r>
              <a:rPr lang="en-IN" dirty="0"/>
              <a:t>No manual indexing required</a:t>
            </a:r>
          </a:p>
          <a:p>
            <a:pPr lvl="1"/>
            <a:r>
              <a:rPr lang="en-IN" dirty="0"/>
              <a:t>Automatic optimization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27741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9481F-24FF-25F1-CE23-447A8A808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Hands-On Labs (Practical Session)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5A3C5-4685-7D23-1A18-91C8AC8C7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LAB 1: Log in to Snowflake</a:t>
            </a:r>
          </a:p>
          <a:p>
            <a:r>
              <a:rPr lang="en-US" b="1" dirty="0"/>
              <a:t>Steps:</a:t>
            </a:r>
          </a:p>
          <a:p>
            <a:r>
              <a:rPr lang="en-US" dirty="0"/>
              <a:t>Go to Snowflake account URL</a:t>
            </a:r>
          </a:p>
          <a:p>
            <a:r>
              <a:rPr lang="en-US" dirty="0"/>
              <a:t>Enter:</a:t>
            </a:r>
          </a:p>
          <a:p>
            <a:pPr lvl="1"/>
            <a:r>
              <a:rPr lang="en-US" dirty="0"/>
              <a:t>Account identifier</a:t>
            </a:r>
          </a:p>
          <a:p>
            <a:pPr lvl="1"/>
            <a:r>
              <a:rPr lang="en-US" dirty="0"/>
              <a:t>Username</a:t>
            </a:r>
          </a:p>
          <a:p>
            <a:pPr lvl="1"/>
            <a:r>
              <a:rPr lang="en-US" dirty="0"/>
              <a:t>Password</a:t>
            </a:r>
          </a:p>
          <a:p>
            <a:r>
              <a:rPr lang="en-US" dirty="0"/>
              <a:t>Select role (e.g., ACCOUNTADMIN)</a:t>
            </a:r>
          </a:p>
          <a:p>
            <a:r>
              <a:rPr lang="en-US" dirty="0"/>
              <a:t>Select warehouse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2988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BA433-0D0A-FBF8-85AA-D2E4F4C15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2: Explore Snowflake UI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E21BE-19F7-CDCB-416D-C70CE75B4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In </a:t>
            </a:r>
            <a:r>
              <a:rPr lang="en-IN" dirty="0" err="1"/>
              <a:t>Snowsight</a:t>
            </a:r>
            <a:r>
              <a:rPr lang="en-IN" dirty="0"/>
              <a:t> explore:</a:t>
            </a:r>
          </a:p>
          <a:p>
            <a:pPr marL="0" indent="0">
              <a:buNone/>
            </a:pPr>
            <a:r>
              <a:rPr lang="en-IN" b="1" dirty="0"/>
              <a:t>Worksheets</a:t>
            </a:r>
          </a:p>
          <a:p>
            <a:r>
              <a:rPr lang="en-IN" dirty="0"/>
              <a:t>Write SQL</a:t>
            </a:r>
          </a:p>
          <a:p>
            <a:r>
              <a:rPr lang="en-IN" dirty="0"/>
              <a:t>Execute queries</a:t>
            </a:r>
          </a:p>
          <a:p>
            <a:r>
              <a:rPr lang="en-IN" dirty="0"/>
              <a:t>View results</a:t>
            </a:r>
          </a:p>
          <a:p>
            <a:pPr marL="0" indent="0">
              <a:buNone/>
            </a:pPr>
            <a:r>
              <a:rPr lang="en-IN" b="1" dirty="0"/>
              <a:t>Databases</a:t>
            </a:r>
          </a:p>
          <a:p>
            <a:r>
              <a:rPr lang="en-IN" dirty="0"/>
              <a:t>Logical container</a:t>
            </a:r>
          </a:p>
          <a:p>
            <a:r>
              <a:rPr lang="en-IN" dirty="0"/>
              <a:t>Contains schemas</a:t>
            </a:r>
          </a:p>
          <a:p>
            <a:pPr marL="0" indent="0">
              <a:buNone/>
            </a:pPr>
            <a:r>
              <a:rPr lang="en-IN" b="1" dirty="0"/>
              <a:t>Schemas</a:t>
            </a:r>
          </a:p>
          <a:p>
            <a:r>
              <a:rPr lang="en-IN" dirty="0"/>
              <a:t>Namespace inside database</a:t>
            </a:r>
          </a:p>
          <a:p>
            <a:r>
              <a:rPr lang="en-IN" dirty="0"/>
              <a:t>Contains tables, views, stages</a:t>
            </a:r>
          </a:p>
          <a:p>
            <a:pPr marL="0" indent="0">
              <a:buNone/>
            </a:pPr>
            <a:r>
              <a:rPr lang="en-IN" b="1" dirty="0"/>
              <a:t>Warehouses</a:t>
            </a:r>
          </a:p>
          <a:p>
            <a:r>
              <a:rPr lang="en-IN" dirty="0"/>
              <a:t>Compute engine</a:t>
            </a:r>
          </a:p>
          <a:p>
            <a:r>
              <a:rPr lang="en-IN" dirty="0"/>
              <a:t>Start/Stop</a:t>
            </a:r>
          </a:p>
          <a:p>
            <a:r>
              <a:rPr lang="en-IN" dirty="0"/>
              <a:t>Monitor usage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43814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A029A-58E8-E759-7F45-3EDE74AC3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3: Create First Database and Schema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EC9C7-A752-E99E-2531-0ACFE3FCE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Step 1: Create Database</a:t>
            </a:r>
          </a:p>
          <a:p>
            <a:pPr marL="457200" lvl="1" indent="0">
              <a:buNone/>
            </a:pPr>
            <a:r>
              <a:rPr lang="en-IN" dirty="0"/>
              <a:t>	CREATE DATABASE </a:t>
            </a:r>
            <a:r>
              <a:rPr lang="en-IN" dirty="0" err="1"/>
              <a:t>training_db</a:t>
            </a:r>
            <a:r>
              <a:rPr lang="en-IN" dirty="0"/>
              <a:t>;</a:t>
            </a:r>
          </a:p>
          <a:p>
            <a:pPr marL="457200" lvl="1" indent="0">
              <a:buNone/>
            </a:pPr>
            <a:r>
              <a:rPr lang="en-IN" dirty="0"/>
              <a:t>Verify:</a:t>
            </a:r>
          </a:p>
          <a:p>
            <a:pPr lvl="2"/>
            <a:r>
              <a:rPr lang="en-IN" dirty="0"/>
              <a:t>SHOW DATABASES;</a:t>
            </a:r>
          </a:p>
          <a:p>
            <a:r>
              <a:rPr lang="en-IN" dirty="0"/>
              <a:t>Step 2: Use Database</a:t>
            </a:r>
          </a:p>
          <a:p>
            <a:pPr lvl="2"/>
            <a:r>
              <a:rPr lang="en-IN" dirty="0"/>
              <a:t>USE DATABASE </a:t>
            </a:r>
            <a:r>
              <a:rPr lang="en-IN" dirty="0" err="1"/>
              <a:t>training_db</a:t>
            </a:r>
            <a:r>
              <a:rPr lang="en-IN" dirty="0"/>
              <a:t>;</a:t>
            </a:r>
          </a:p>
          <a:p>
            <a:r>
              <a:rPr lang="en-IN" dirty="0"/>
              <a:t>Step 3: Create Schema</a:t>
            </a:r>
          </a:p>
          <a:p>
            <a:pPr marL="457200" lvl="1" indent="0">
              <a:buNone/>
            </a:pPr>
            <a:r>
              <a:rPr lang="en-IN" dirty="0"/>
              <a:t>	CREATE SCHEMA </a:t>
            </a:r>
            <a:r>
              <a:rPr lang="en-IN" dirty="0" err="1"/>
              <a:t>raw_layer</a:t>
            </a:r>
            <a:r>
              <a:rPr lang="en-IN" dirty="0"/>
              <a:t>;</a:t>
            </a:r>
          </a:p>
          <a:p>
            <a:pPr marL="457200" lvl="1" indent="0">
              <a:buNone/>
            </a:pPr>
            <a:r>
              <a:rPr lang="en-IN" dirty="0"/>
              <a:t>Verify:</a:t>
            </a:r>
          </a:p>
          <a:p>
            <a:pPr lvl="2"/>
            <a:r>
              <a:rPr lang="en-IN" dirty="0"/>
              <a:t>SHOW SCHEMAS;</a:t>
            </a:r>
          </a:p>
          <a:p>
            <a:r>
              <a:rPr lang="en-IN" dirty="0"/>
              <a:t>Step 4: Create Warehouse</a:t>
            </a:r>
          </a:p>
          <a:p>
            <a:pPr marL="457200" lvl="1" indent="0">
              <a:buNone/>
            </a:pPr>
            <a:r>
              <a:rPr lang="en-US" dirty="0"/>
              <a:t>CREATE WAREHOUSE </a:t>
            </a:r>
            <a:r>
              <a:rPr lang="en-US" dirty="0" err="1"/>
              <a:t>training_wh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WAREHOUSE_SIZE = 'XSMALL'</a:t>
            </a:r>
          </a:p>
          <a:p>
            <a:pPr marL="457200" lvl="1" indent="0">
              <a:buNone/>
            </a:pPr>
            <a:r>
              <a:rPr lang="en-US" dirty="0"/>
              <a:t>AUTO_SUSPEND = 60</a:t>
            </a:r>
          </a:p>
          <a:p>
            <a:pPr marL="457200" lvl="1" indent="0">
              <a:buNone/>
            </a:pPr>
            <a:r>
              <a:rPr lang="en-US" dirty="0"/>
              <a:t>AUTO_RESUME = TRUE;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41641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41059-5000-D199-DED6-6331CA85A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62CCD-D446-55B6-E0BE-57C4305DF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3: Create First Database and Schema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EABF6-62F5-3016-DFE4-F178E9B3B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Step 5: Use Warehouse</a:t>
            </a:r>
          </a:p>
          <a:p>
            <a:pPr marL="457200" lvl="1" indent="0">
              <a:buNone/>
            </a:pPr>
            <a:r>
              <a:rPr lang="en-IN" dirty="0"/>
              <a:t>USE WAREHOUSE </a:t>
            </a:r>
            <a:r>
              <a:rPr lang="en-IN" dirty="0" err="1"/>
              <a:t>training_wh</a:t>
            </a:r>
            <a:r>
              <a:rPr lang="en-IN" dirty="0"/>
              <a:t>;</a:t>
            </a:r>
          </a:p>
          <a:p>
            <a:r>
              <a:rPr lang="en-US" dirty="0"/>
              <a:t>Step 6: Create Sample Table</a:t>
            </a:r>
          </a:p>
          <a:p>
            <a:pPr marL="0" indent="0">
              <a:buNone/>
            </a:pPr>
            <a:r>
              <a:rPr lang="en-US" dirty="0"/>
              <a:t>	CREATE TABLE employees (</a:t>
            </a:r>
          </a:p>
          <a:p>
            <a:pPr marL="914400" lvl="2" indent="0">
              <a:buNone/>
            </a:pPr>
            <a:r>
              <a:rPr lang="en-US" dirty="0"/>
              <a:t>   </a:t>
            </a:r>
            <a:r>
              <a:rPr lang="en-US" dirty="0" err="1"/>
              <a:t>emp_id</a:t>
            </a:r>
            <a:r>
              <a:rPr lang="en-US" dirty="0"/>
              <a:t> INT,</a:t>
            </a:r>
          </a:p>
          <a:p>
            <a:pPr marL="914400" lvl="2" indent="0">
              <a:buNone/>
            </a:pPr>
            <a:r>
              <a:rPr lang="en-US" dirty="0"/>
              <a:t>   name STRING,</a:t>
            </a:r>
          </a:p>
          <a:p>
            <a:pPr marL="914400" lvl="2" indent="0">
              <a:buNone/>
            </a:pPr>
            <a:r>
              <a:rPr lang="en-US" dirty="0"/>
              <a:t>   department STRING,</a:t>
            </a:r>
          </a:p>
          <a:p>
            <a:pPr marL="914400" lvl="2" indent="0">
              <a:buNone/>
            </a:pPr>
            <a:r>
              <a:rPr lang="en-US" dirty="0"/>
              <a:t>   salary NUMBER</a:t>
            </a:r>
          </a:p>
          <a:p>
            <a:pPr marL="0" indent="0">
              <a:buNone/>
            </a:pPr>
            <a:r>
              <a:rPr lang="en-US" dirty="0"/>
              <a:t>	);</a:t>
            </a:r>
          </a:p>
          <a:p>
            <a:r>
              <a:rPr lang="en-IN" dirty="0"/>
              <a:t>Step 7: Insert Data</a:t>
            </a:r>
          </a:p>
          <a:p>
            <a:pPr marL="457200" lvl="1" indent="0">
              <a:buNone/>
            </a:pPr>
            <a:r>
              <a:rPr lang="en-US" dirty="0"/>
              <a:t>INSERT INTO employees VALUES</a:t>
            </a:r>
          </a:p>
          <a:p>
            <a:pPr marL="457200" lvl="1" indent="0">
              <a:buNone/>
            </a:pPr>
            <a:r>
              <a:rPr lang="en-US" dirty="0"/>
              <a:t>(1, 'Rahul', 'IT', 50000),</a:t>
            </a:r>
          </a:p>
          <a:p>
            <a:pPr marL="457200" lvl="1" indent="0">
              <a:buNone/>
            </a:pPr>
            <a:r>
              <a:rPr lang="en-US" dirty="0"/>
              <a:t>(2, 'Anita', 'HR', 40000);</a:t>
            </a:r>
          </a:p>
          <a:p>
            <a:r>
              <a:rPr lang="en-IN" dirty="0"/>
              <a:t>Step 8: Query Data</a:t>
            </a:r>
          </a:p>
          <a:p>
            <a:pPr marL="457200" lvl="1" indent="0">
              <a:buNone/>
            </a:pPr>
            <a:r>
              <a:rPr lang="en-US" dirty="0"/>
              <a:t>SELECT * FROM employees;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80820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90E2F-48D5-B124-0CA5-C3F9FB933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Practice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FC6B9-FF9F-E703-60C2-D8C06BDFC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Practice Exercise (Assignment for Learners)</a:t>
            </a:r>
          </a:p>
          <a:p>
            <a:r>
              <a:rPr lang="en-US" b="1" dirty="0"/>
              <a:t>Task 1</a:t>
            </a:r>
          </a:p>
          <a:p>
            <a:pPr lvl="1"/>
            <a:r>
              <a:rPr lang="en-US" dirty="0"/>
              <a:t>Create:</a:t>
            </a:r>
          </a:p>
          <a:p>
            <a:pPr lvl="1"/>
            <a:r>
              <a:rPr lang="en-US" dirty="0"/>
              <a:t>Database: </a:t>
            </a:r>
            <a:r>
              <a:rPr lang="en-US" dirty="0" err="1"/>
              <a:t>company_db</a:t>
            </a:r>
            <a:endParaRPr lang="en-US" dirty="0"/>
          </a:p>
          <a:p>
            <a:pPr lvl="1"/>
            <a:r>
              <a:rPr lang="en-US" dirty="0"/>
              <a:t>Schema: sales</a:t>
            </a:r>
          </a:p>
          <a:p>
            <a:pPr lvl="1"/>
            <a:r>
              <a:rPr lang="en-US" dirty="0"/>
              <a:t>Warehouse: </a:t>
            </a:r>
            <a:r>
              <a:rPr lang="en-US" dirty="0" err="1"/>
              <a:t>sales_wh</a:t>
            </a:r>
            <a:endParaRPr lang="en-US" dirty="0"/>
          </a:p>
          <a:p>
            <a:r>
              <a:rPr lang="en-US" b="1" dirty="0"/>
              <a:t>Task 2</a:t>
            </a:r>
          </a:p>
          <a:p>
            <a:pPr lvl="1"/>
            <a:r>
              <a:rPr lang="en-US" dirty="0"/>
              <a:t>Create table:</a:t>
            </a:r>
          </a:p>
          <a:p>
            <a:pPr lvl="1"/>
            <a:r>
              <a:rPr lang="en-US" dirty="0"/>
              <a:t>CREATE TABLE orders (</a:t>
            </a:r>
          </a:p>
          <a:p>
            <a:pPr lvl="1"/>
            <a:r>
              <a:rPr lang="en-US" dirty="0"/>
              <a:t>    </a:t>
            </a:r>
            <a:r>
              <a:rPr lang="en-US" dirty="0" err="1"/>
              <a:t>order_id</a:t>
            </a:r>
            <a:r>
              <a:rPr lang="en-US" dirty="0"/>
              <a:t> INT,</a:t>
            </a:r>
          </a:p>
          <a:p>
            <a:pPr lvl="1"/>
            <a:r>
              <a:rPr lang="en-US" dirty="0"/>
              <a:t>    </a:t>
            </a:r>
            <a:r>
              <a:rPr lang="en-US" dirty="0" err="1"/>
              <a:t>customer_name</a:t>
            </a:r>
            <a:r>
              <a:rPr lang="en-US" dirty="0"/>
              <a:t> STRING,</a:t>
            </a:r>
          </a:p>
          <a:p>
            <a:pPr lvl="1"/>
            <a:r>
              <a:rPr lang="en-US" dirty="0"/>
              <a:t>    amount NUMBER,</a:t>
            </a:r>
          </a:p>
          <a:p>
            <a:pPr lvl="1"/>
            <a:r>
              <a:rPr lang="en-US" dirty="0"/>
              <a:t>    </a:t>
            </a:r>
            <a:r>
              <a:rPr lang="en-US" dirty="0" err="1"/>
              <a:t>order_date</a:t>
            </a:r>
            <a:r>
              <a:rPr lang="en-US" dirty="0"/>
              <a:t> DATE</a:t>
            </a:r>
          </a:p>
          <a:p>
            <a:pPr lvl="1"/>
            <a:r>
              <a:rPr lang="en-US" dirty="0"/>
              <a:t>);</a:t>
            </a:r>
          </a:p>
          <a:p>
            <a:r>
              <a:rPr lang="en-US" dirty="0"/>
              <a:t>Insert 5 records and query them.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04552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CDD26-3B01-B8A6-FEB3-020F5BD5F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Concept Reinforcement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3FA15-B38C-BF56-D202-AA34423CD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is separation of compute and storage important?</a:t>
            </a:r>
          </a:p>
          <a:p>
            <a:r>
              <a:rPr lang="en-US" dirty="0"/>
              <a:t>What problem does Virtual Warehouse solve?</a:t>
            </a:r>
          </a:p>
          <a:p>
            <a:r>
              <a:rPr lang="en-US" dirty="0"/>
              <a:t>What is Zero-Copy cloning and where is it useful?</a:t>
            </a:r>
          </a:p>
          <a:p>
            <a:r>
              <a:rPr lang="en-US" dirty="0"/>
              <a:t>How is Snowflake different from traditional RDBMS?</a:t>
            </a:r>
          </a:p>
          <a:p>
            <a:r>
              <a:rPr lang="en-US" dirty="0"/>
              <a:t>What are micro-partitions?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74569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0BC4B-1E32-B7BD-A2F1-DBBA2C56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is separation of compute and storage important?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4C0D1-3CFB-07B1-0657-D47CF8E04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 traditional databases like Oracle Database or MySQL, </a:t>
            </a:r>
            <a:r>
              <a:rPr lang="en-US" b="1" dirty="0"/>
              <a:t>storage and compute are tightly coupled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In Snowflake, they are completely independent.</a:t>
            </a:r>
          </a:p>
          <a:p>
            <a:r>
              <a:rPr lang="en-US" dirty="0"/>
              <a:t>This architectural decision is one of the biggest reasons Snowflake is scalable and cloud-optimized.</a:t>
            </a:r>
          </a:p>
          <a:p>
            <a:r>
              <a:rPr lang="en-US" dirty="0"/>
              <a:t>Let’s break it down clearly.</a:t>
            </a:r>
          </a:p>
          <a:p>
            <a:r>
              <a:rPr lang="en-IN" dirty="0"/>
              <a:t>Independent Scaling (Elasticity)</a:t>
            </a:r>
          </a:p>
          <a:p>
            <a:r>
              <a:rPr lang="en-IN" dirty="0"/>
              <a:t>Better Performance &amp; Concurrency</a:t>
            </a:r>
          </a:p>
          <a:p>
            <a:r>
              <a:rPr lang="en-US" dirty="0"/>
              <a:t>Cost Optimization (Pay for What You Use)</a:t>
            </a:r>
          </a:p>
          <a:p>
            <a:r>
              <a:rPr lang="en-IN" dirty="0"/>
              <a:t>No Infrastructure Management</a:t>
            </a:r>
          </a:p>
          <a:p>
            <a:r>
              <a:rPr lang="en-IN" dirty="0"/>
              <a:t>Workload Isolation</a:t>
            </a:r>
          </a:p>
          <a:p>
            <a:r>
              <a:rPr lang="en-IN" dirty="0"/>
              <a:t>Faster Innovation &amp; Dev/Test Environments</a:t>
            </a:r>
          </a:p>
        </p:txBody>
      </p:sp>
    </p:spTree>
    <p:extLst>
      <p:ext uri="{BB962C8B-B14F-4D97-AF65-F5344CB8AC3E}">
        <p14:creationId xmlns:p14="http://schemas.microsoft.com/office/powerpoint/2010/main" val="34838008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48E7C-9815-4294-5962-C054983BA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Independent Scaling (Elasticity)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5B3F8-3A9C-9F39-E785-D7DE91CD7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Traditional System:</a:t>
            </a:r>
          </a:p>
          <a:p>
            <a:pPr lvl="1"/>
            <a:r>
              <a:rPr lang="en-US" dirty="0"/>
              <a:t>If storage grows → you must upgrade the entire server (CPU + RAM + Disk).</a:t>
            </a:r>
          </a:p>
          <a:p>
            <a:r>
              <a:rPr lang="en-US" b="1" dirty="0"/>
              <a:t>Snowflake:</a:t>
            </a:r>
          </a:p>
          <a:p>
            <a:pPr lvl="1"/>
            <a:r>
              <a:rPr lang="en-US" dirty="0"/>
              <a:t>Storage scales automatically in cloud object storage.</a:t>
            </a:r>
          </a:p>
          <a:p>
            <a:pPr lvl="1"/>
            <a:r>
              <a:rPr lang="en-US" dirty="0"/>
              <a:t>Compute (Virtual Warehouse) scales separately.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Your data grows from 1TB → 20TB</a:t>
            </a:r>
          </a:p>
          <a:p>
            <a:pPr lvl="1"/>
            <a:r>
              <a:rPr lang="en-US" dirty="0"/>
              <a:t>You </a:t>
            </a:r>
            <a:r>
              <a:rPr lang="en-US" b="1" dirty="0"/>
              <a:t>do NOT</a:t>
            </a:r>
            <a:r>
              <a:rPr lang="en-US" dirty="0"/>
              <a:t> need to increase compute.</a:t>
            </a:r>
          </a:p>
          <a:p>
            <a:pPr lvl="1"/>
            <a:r>
              <a:rPr lang="en-US" dirty="0"/>
              <a:t>Only storage cost increases.</a:t>
            </a:r>
          </a:p>
          <a:p>
            <a:r>
              <a:rPr lang="en-US" dirty="0"/>
              <a:t>Similarly:</a:t>
            </a:r>
          </a:p>
          <a:p>
            <a:pPr lvl="1"/>
            <a:r>
              <a:rPr lang="en-US" dirty="0"/>
              <a:t>Heavy reporting load?</a:t>
            </a:r>
          </a:p>
          <a:p>
            <a:pPr lvl="1"/>
            <a:r>
              <a:rPr lang="en-US" dirty="0"/>
              <a:t>Increase warehouse size temporarily.</a:t>
            </a:r>
          </a:p>
          <a:p>
            <a:pPr marL="0" indent="0">
              <a:buNone/>
            </a:pPr>
            <a:r>
              <a:rPr lang="en-US" dirty="0"/>
              <a:t>✔ No over-provisioning</a:t>
            </a:r>
            <a:br>
              <a:rPr lang="en-US" dirty="0"/>
            </a:br>
            <a:r>
              <a:rPr lang="en-US" dirty="0"/>
              <a:t>✔ True elasticity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84353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4C69C-D2E2-2FC8-8E35-5D62406FA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Better Performance &amp; Concurrency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B5D07-5271-4D7D-D796-FB6085CD3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In traditional databases:</a:t>
            </a:r>
          </a:p>
          <a:p>
            <a:pPr lvl="1"/>
            <a:r>
              <a:rPr lang="en-IN" dirty="0"/>
              <a:t>Multiple teams share the same CPU &amp; memory.</a:t>
            </a:r>
          </a:p>
          <a:p>
            <a:pPr lvl="1"/>
            <a:r>
              <a:rPr lang="en-IN" dirty="0"/>
              <a:t>Heavy query slows everyone down.</a:t>
            </a:r>
          </a:p>
          <a:p>
            <a:pPr marL="0" indent="0">
              <a:buNone/>
            </a:pPr>
            <a:r>
              <a:rPr lang="en-IN" dirty="0"/>
              <a:t>In Snowflake:</a:t>
            </a:r>
          </a:p>
          <a:p>
            <a:pPr lvl="1"/>
            <a:r>
              <a:rPr lang="en-IN" dirty="0"/>
              <a:t>Each team can use a separate </a:t>
            </a:r>
            <a:r>
              <a:rPr lang="en-IN" b="1" dirty="0"/>
              <a:t>Virtual Warehouse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Warehouses do NOT compete for compute.</a:t>
            </a:r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pPr lvl="1"/>
            <a:r>
              <a:rPr lang="en-IN" dirty="0"/>
              <a:t>BI Team → BI_WH</a:t>
            </a:r>
          </a:p>
          <a:p>
            <a:pPr lvl="1"/>
            <a:r>
              <a:rPr lang="en-IN" dirty="0"/>
              <a:t>Data Engineering → ETL_WH</a:t>
            </a:r>
          </a:p>
          <a:p>
            <a:pPr lvl="1"/>
            <a:r>
              <a:rPr lang="en-IN" dirty="0"/>
              <a:t>Data Science → DS_WH</a:t>
            </a:r>
          </a:p>
          <a:p>
            <a:pPr lvl="1"/>
            <a:r>
              <a:rPr lang="en-IN" dirty="0"/>
              <a:t>Each warehouse runs independently.</a:t>
            </a:r>
          </a:p>
          <a:p>
            <a:pPr marL="0" indent="0">
              <a:buNone/>
            </a:pPr>
            <a:r>
              <a:rPr lang="en-IN" dirty="0"/>
              <a:t>✔ No query blocking</a:t>
            </a:r>
            <a:br>
              <a:rPr lang="en-IN" dirty="0"/>
            </a:br>
            <a:r>
              <a:rPr lang="en-IN" dirty="0"/>
              <a:t>✔ High concurrency</a:t>
            </a:r>
            <a:br>
              <a:rPr lang="en-IN" dirty="0"/>
            </a:br>
            <a:r>
              <a:rPr lang="en-IN" dirty="0"/>
              <a:t>✔ Predictable performance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3591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C90DB-8CC3-5BDB-0BC0-1C3E21D51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Optimization (Pay for What You Use)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F75C8-6179-B234-3E18-A6F3A56A58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Snowflake pricing model:</a:t>
            </a:r>
          </a:p>
          <a:p>
            <a:pPr lvl="1"/>
            <a:r>
              <a:rPr lang="en-IN" dirty="0"/>
              <a:t>Storage → charged per TB</a:t>
            </a:r>
          </a:p>
          <a:p>
            <a:pPr lvl="1"/>
            <a:r>
              <a:rPr lang="en-IN" dirty="0"/>
              <a:t>Compute → charged per second while warehouse runs</a:t>
            </a:r>
          </a:p>
          <a:p>
            <a:pPr marL="0" indent="0">
              <a:buNone/>
            </a:pPr>
            <a:r>
              <a:rPr lang="en-IN" dirty="0"/>
              <a:t>Warehouses can:</a:t>
            </a:r>
          </a:p>
          <a:p>
            <a:pPr lvl="1"/>
            <a:r>
              <a:rPr lang="en-IN" dirty="0"/>
              <a:t>Auto-suspend</a:t>
            </a:r>
          </a:p>
          <a:p>
            <a:pPr lvl="1"/>
            <a:r>
              <a:rPr lang="en-IN" dirty="0"/>
              <a:t>Auto-resume</a:t>
            </a:r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pPr lvl="1"/>
            <a:r>
              <a:rPr lang="en-IN" dirty="0"/>
              <a:t>If warehouse is idle for 5 minutes → it shuts down automatically.</a:t>
            </a:r>
          </a:p>
          <a:p>
            <a:pPr lvl="1"/>
            <a:r>
              <a:rPr lang="en-IN" dirty="0"/>
              <a:t>In traditional systems:</a:t>
            </a:r>
          </a:p>
          <a:p>
            <a:pPr lvl="1"/>
            <a:r>
              <a:rPr lang="en-IN" dirty="0"/>
              <a:t>Server runs 24/7 → cost is fixed.</a:t>
            </a:r>
          </a:p>
          <a:p>
            <a:pPr marL="0" indent="0">
              <a:buNone/>
            </a:pPr>
            <a:r>
              <a:rPr lang="en-IN" dirty="0"/>
              <a:t>✔ Lower operational cost</a:t>
            </a:r>
            <a:br>
              <a:rPr lang="en-IN" dirty="0"/>
            </a:br>
            <a:r>
              <a:rPr lang="en-IN" dirty="0"/>
              <a:t>✔ Efficient resource usage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06325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A5939-1646-8CAA-2D73-EE0BE23EE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 Infrastructure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ECB7F-70CC-EF7E-99C7-DD3A13028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In legacy systems:</a:t>
            </a:r>
          </a:p>
          <a:p>
            <a:pPr lvl="1"/>
            <a:r>
              <a:rPr lang="en-IN" dirty="0"/>
              <a:t>Need capacity planning</a:t>
            </a:r>
          </a:p>
          <a:p>
            <a:pPr lvl="1"/>
            <a:r>
              <a:rPr lang="en-IN" dirty="0"/>
              <a:t>Need hardware upgrades</a:t>
            </a:r>
          </a:p>
          <a:p>
            <a:pPr lvl="1"/>
            <a:r>
              <a:rPr lang="en-IN" dirty="0"/>
              <a:t>Need disk management</a:t>
            </a:r>
          </a:p>
          <a:p>
            <a:pPr marL="0" indent="0">
              <a:buNone/>
            </a:pPr>
            <a:r>
              <a:rPr lang="en-IN" dirty="0"/>
              <a:t>In Snowflake:</a:t>
            </a:r>
          </a:p>
          <a:p>
            <a:pPr lvl="1"/>
            <a:r>
              <a:rPr lang="en-IN" dirty="0"/>
              <a:t>Storage is managed automatically in cloud.</a:t>
            </a:r>
          </a:p>
          <a:p>
            <a:pPr lvl="1"/>
            <a:r>
              <a:rPr lang="en-IN" dirty="0"/>
              <a:t>Compute clusters are abstracted.</a:t>
            </a:r>
          </a:p>
          <a:p>
            <a:pPr marL="0" indent="0">
              <a:buNone/>
            </a:pPr>
            <a:r>
              <a:rPr lang="en-IN" dirty="0"/>
              <a:t>✔ No DBA tuning required</a:t>
            </a:r>
            <a:br>
              <a:rPr lang="en-IN" dirty="0"/>
            </a:br>
            <a:r>
              <a:rPr lang="en-IN" dirty="0"/>
              <a:t>✔ No index management</a:t>
            </a:r>
            <a:br>
              <a:rPr lang="en-IN" dirty="0"/>
            </a:br>
            <a:r>
              <a:rPr lang="en-IN" dirty="0"/>
              <a:t>✔ No partition management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62303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43662-B12F-3A09-0A98-73013F6E7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Workload Isolation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7060A-7418-0ECD-58D4-BC76E533E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Different workloads behave differently: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Because compute is separate:</a:t>
            </a:r>
          </a:p>
          <a:p>
            <a:pPr lvl="1"/>
            <a:r>
              <a:rPr lang="en-US" dirty="0"/>
              <a:t>You can assign different warehouse sizes.</a:t>
            </a:r>
          </a:p>
          <a:p>
            <a:pPr marL="457200" lvl="1" indent="0">
              <a:buNone/>
            </a:pPr>
            <a:r>
              <a:rPr lang="en-US" dirty="0"/>
              <a:t>✔ Proper workload isolation</a:t>
            </a:r>
            <a:br>
              <a:rPr lang="en-US" dirty="0"/>
            </a:br>
            <a:r>
              <a:rPr lang="en-US" dirty="0"/>
              <a:t>✔ Optimized performance per team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31045D9-39A5-967B-A32F-33DE3182E3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76704"/>
              </p:ext>
            </p:extLst>
          </p:nvPr>
        </p:nvGraphicFramePr>
        <p:xfrm>
          <a:off x="1418303" y="2280649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17383616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8903946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Workload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Needs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0955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ETL Jobs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Heavy compute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6471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 Reports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Medium compute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101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Science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Large 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5681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Ad-hoc Queries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Small compute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7215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89196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BBA64-02BB-D97B-2051-0EE20750C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Faster Innovation &amp; Dev/Test Environments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CB786-AD88-8707-6A5E-A10B48761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Since storage is shared but compute is independent:</a:t>
            </a:r>
          </a:p>
          <a:p>
            <a:pPr lvl="1"/>
            <a:r>
              <a:rPr lang="en-US" dirty="0"/>
              <a:t>Developers can spin up small warehouses</a:t>
            </a:r>
          </a:p>
          <a:p>
            <a:pPr lvl="1"/>
            <a:r>
              <a:rPr lang="en-US" dirty="0"/>
              <a:t>Testing can happen without impacting production</a:t>
            </a:r>
          </a:p>
          <a:p>
            <a:pPr marL="0" indent="0">
              <a:buNone/>
            </a:pPr>
            <a:r>
              <a:rPr lang="en-US" dirty="0"/>
              <a:t>Combine this with:</a:t>
            </a:r>
          </a:p>
          <a:p>
            <a:pPr lvl="1"/>
            <a:r>
              <a:rPr lang="en-US" dirty="0"/>
              <a:t>Time Travel</a:t>
            </a:r>
          </a:p>
          <a:p>
            <a:pPr lvl="1"/>
            <a:r>
              <a:rPr lang="en-US" dirty="0"/>
              <a:t>Zero-Copy Cloning</a:t>
            </a:r>
          </a:p>
          <a:p>
            <a:pPr marL="0" indent="0">
              <a:buNone/>
            </a:pPr>
            <a:r>
              <a:rPr lang="en-US" dirty="0"/>
              <a:t>You get extremely flexible environments.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72530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E5AA3-BF82-5A35-085D-D76A6381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Separation of compute and storage enables: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DBE35-DB56-3738-123F-5F19F29E9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✔ Independent scaling</a:t>
            </a:r>
            <a:br>
              <a:rPr lang="en-IN" dirty="0"/>
            </a:br>
            <a:r>
              <a:rPr lang="en-IN" dirty="0"/>
              <a:t>✔ High concurrency</a:t>
            </a:r>
            <a:br>
              <a:rPr lang="en-IN" dirty="0"/>
            </a:br>
            <a:r>
              <a:rPr lang="en-IN" dirty="0"/>
              <a:t>✔ Cost efficiency</a:t>
            </a:r>
            <a:br>
              <a:rPr lang="en-IN" dirty="0"/>
            </a:br>
            <a:r>
              <a:rPr lang="en-IN" dirty="0"/>
              <a:t>✔ Workload isolation</a:t>
            </a:r>
            <a:br>
              <a:rPr lang="en-IN" dirty="0"/>
            </a:br>
            <a:r>
              <a:rPr lang="en-IN" dirty="0"/>
              <a:t>✔ Elastic cloud architecture</a:t>
            </a:r>
            <a:br>
              <a:rPr lang="en-IN" dirty="0"/>
            </a:br>
            <a:r>
              <a:rPr lang="en-IN" dirty="0"/>
              <a:t>✔ No infrastructure headache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23772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169FE-1FE0-CFEF-5778-8B8A038C4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problem does Virtual Warehouse solve?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4EA45-842B-0BB4-5AB0-0AF9BFADB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Snowflake, a </a:t>
            </a:r>
            <a:r>
              <a:rPr lang="en-US" b="1" dirty="0"/>
              <a:t>Virtual Warehouse</a:t>
            </a:r>
            <a:r>
              <a:rPr lang="en-US" dirty="0"/>
              <a:t> is the compute engine that runs SQL queries.</a:t>
            </a:r>
          </a:p>
          <a:p>
            <a:r>
              <a:rPr lang="en-US" dirty="0"/>
              <a:t>It solves one major problem that traditional databases like Oracle Database or MySQL struggle with:</a:t>
            </a:r>
          </a:p>
          <a:p>
            <a:pPr marL="0" indent="0">
              <a:buNone/>
            </a:pPr>
            <a:r>
              <a:rPr lang="en-US" dirty="0"/>
              <a:t>	⚠️ </a:t>
            </a:r>
            <a:r>
              <a:rPr lang="en-US" b="1" dirty="0"/>
              <a:t>Resource contention and performance bottlenecks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22968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A6C70-24C2-4D32-2F17-E64EA3A83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Core Problem #1: Resource Contention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110DF-7864-F2BD-4F91-E88064403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In Traditional Databases</a:t>
            </a:r>
          </a:p>
          <a:p>
            <a:pPr lvl="1"/>
            <a:r>
              <a:rPr lang="en-IN" dirty="0"/>
              <a:t>One server</a:t>
            </a:r>
          </a:p>
          <a:p>
            <a:pPr lvl="1"/>
            <a:r>
              <a:rPr lang="en-IN" dirty="0"/>
              <a:t>One CPU pool</a:t>
            </a:r>
          </a:p>
          <a:p>
            <a:pPr lvl="1"/>
            <a:r>
              <a:rPr lang="en-IN" dirty="0"/>
              <a:t>One memory pool</a:t>
            </a:r>
          </a:p>
          <a:p>
            <a:pPr lvl="1"/>
            <a:r>
              <a:rPr lang="en-IN" dirty="0"/>
              <a:t>Everyone shares resources</a:t>
            </a:r>
          </a:p>
          <a:p>
            <a:r>
              <a:rPr lang="en-IN" dirty="0"/>
              <a:t>If:</a:t>
            </a:r>
          </a:p>
          <a:p>
            <a:pPr lvl="1"/>
            <a:r>
              <a:rPr lang="en-IN" dirty="0"/>
              <a:t>ETL job runs → CPU spikes</a:t>
            </a:r>
          </a:p>
          <a:p>
            <a:pPr lvl="1"/>
            <a:r>
              <a:rPr lang="en-IN" dirty="0"/>
              <a:t>BI team runs reports → slow</a:t>
            </a:r>
          </a:p>
          <a:p>
            <a:pPr lvl="1"/>
            <a:r>
              <a:rPr lang="en-IN" dirty="0"/>
              <a:t>Data scientist runs heavy query → everything blocks</a:t>
            </a:r>
          </a:p>
          <a:p>
            <a:pPr marL="0" indent="0">
              <a:buNone/>
            </a:pPr>
            <a:r>
              <a:rPr lang="en-IN" dirty="0"/>
              <a:t>All users compete for the same compute.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6110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A3A42-DA4D-9D39-30E5-973F0A0AE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Virtual Warehouse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6B277-371E-268B-51C6-6ADCF39A1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Snowflake separates compute into independent clusters called </a:t>
            </a:r>
            <a:r>
              <a:rPr lang="en-US" b="1" dirty="0"/>
              <a:t>Virtual Warehouses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Each warehouse:</a:t>
            </a:r>
          </a:p>
          <a:p>
            <a:pPr lvl="1"/>
            <a:r>
              <a:rPr lang="en-US" dirty="0"/>
              <a:t>Has its own CPU</a:t>
            </a:r>
          </a:p>
          <a:p>
            <a:pPr lvl="1"/>
            <a:r>
              <a:rPr lang="en-US" dirty="0"/>
              <a:t>Has its own memory</a:t>
            </a:r>
          </a:p>
          <a:p>
            <a:pPr lvl="1"/>
            <a:r>
              <a:rPr lang="en-US" dirty="0"/>
              <a:t>Runs independently</a:t>
            </a:r>
          </a:p>
          <a:p>
            <a:pPr lvl="1"/>
            <a:r>
              <a:rPr lang="en-US" dirty="0"/>
              <a:t>Does not share compute with others</a:t>
            </a:r>
          </a:p>
          <a:p>
            <a:r>
              <a:rPr lang="en-US" dirty="0"/>
              <a:t>Example: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Now:</a:t>
            </a:r>
          </a:p>
          <a:p>
            <a:pPr marL="0" indent="0">
              <a:buNone/>
            </a:pPr>
            <a:r>
              <a:rPr lang="en-US" dirty="0"/>
              <a:t>✔ ETL won’t slow BI</a:t>
            </a:r>
            <a:br>
              <a:rPr lang="en-US" dirty="0"/>
            </a:br>
            <a:r>
              <a:rPr lang="en-US" dirty="0"/>
              <a:t>✔ BI won’t affect data science</a:t>
            </a:r>
            <a:br>
              <a:rPr lang="en-US" dirty="0"/>
            </a:br>
            <a:r>
              <a:rPr lang="en-US" dirty="0"/>
              <a:t>✔ Complete workload isolation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FA134EE-C3DA-6446-4F49-803195E92D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340100"/>
              </p:ext>
            </p:extLst>
          </p:nvPr>
        </p:nvGraphicFramePr>
        <p:xfrm>
          <a:off x="1968910" y="3584407"/>
          <a:ext cx="6978446" cy="1463040"/>
        </p:xfrm>
        <a:graphic>
          <a:graphicData uri="http://schemas.openxmlformats.org/drawingml/2006/table">
            <a:tbl>
              <a:tblPr/>
              <a:tblGrid>
                <a:gridCol w="3489223">
                  <a:extLst>
                    <a:ext uri="{9D8B030D-6E8A-4147-A177-3AD203B41FA5}">
                      <a16:colId xmlns:a16="http://schemas.microsoft.com/office/drawing/2014/main" val="452807910"/>
                    </a:ext>
                  </a:extLst>
                </a:gridCol>
                <a:gridCol w="3489223">
                  <a:extLst>
                    <a:ext uri="{9D8B030D-6E8A-4147-A177-3AD203B41FA5}">
                      <a16:colId xmlns:a16="http://schemas.microsoft.com/office/drawing/2014/main" val="2241531791"/>
                    </a:ext>
                  </a:extLst>
                </a:gridCol>
              </a:tblGrid>
              <a:tr h="355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Team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Warehouse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873073"/>
                  </a:ext>
                </a:extLst>
              </a:tr>
              <a:tr h="355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BI_WH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138005"/>
                  </a:ext>
                </a:extLst>
              </a:tr>
              <a:tr h="355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ETL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ETL_WH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458668"/>
                  </a:ext>
                </a:extLst>
              </a:tr>
              <a:tr h="355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 Science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DS_WH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05719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65912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CEDB5-DFF1-64BF-644A-BCB84CAA8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Problem #2: Scaling Limitations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7A369-24CC-8E13-B98E-4A8E54050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Traditional scaling:</a:t>
            </a:r>
          </a:p>
          <a:p>
            <a:pPr lvl="1"/>
            <a:r>
              <a:rPr lang="en-US" dirty="0"/>
              <a:t>Increase entire server size</a:t>
            </a:r>
          </a:p>
          <a:p>
            <a:pPr lvl="1"/>
            <a:r>
              <a:rPr lang="en-US" dirty="0"/>
              <a:t>Expensive</a:t>
            </a:r>
          </a:p>
          <a:p>
            <a:pPr lvl="1"/>
            <a:r>
              <a:rPr lang="en-US" dirty="0"/>
              <a:t>Risky</a:t>
            </a:r>
          </a:p>
          <a:p>
            <a:pPr lvl="1"/>
            <a:r>
              <a:rPr lang="en-US" dirty="0"/>
              <a:t>Requires downtime</a:t>
            </a:r>
          </a:p>
          <a:p>
            <a:pPr marL="0" indent="0">
              <a:buNone/>
            </a:pPr>
            <a:r>
              <a:rPr lang="en-US" dirty="0"/>
              <a:t>With Virtual Warehouses:</a:t>
            </a:r>
          </a:p>
          <a:p>
            <a:pPr marL="0" indent="0">
              <a:buNone/>
            </a:pPr>
            <a:r>
              <a:rPr lang="en-US" b="1" dirty="0"/>
              <a:t>Scale Up</a:t>
            </a:r>
          </a:p>
          <a:p>
            <a:pPr marL="0" indent="0">
              <a:buNone/>
            </a:pPr>
            <a:r>
              <a:rPr lang="en-US" dirty="0"/>
              <a:t>Increase size:</a:t>
            </a:r>
          </a:p>
          <a:p>
            <a:pPr marL="0" indent="0">
              <a:buNone/>
            </a:pPr>
            <a:r>
              <a:rPr lang="en-US" dirty="0"/>
              <a:t>XSMALL → SMALL → MEDIUM → LARGE</a:t>
            </a:r>
          </a:p>
          <a:p>
            <a:pPr marL="0" indent="0">
              <a:buNone/>
            </a:pPr>
            <a:r>
              <a:rPr lang="en-US" b="1" dirty="0"/>
              <a:t>Scale Out</a:t>
            </a:r>
          </a:p>
          <a:p>
            <a:pPr lvl="1"/>
            <a:r>
              <a:rPr lang="en-US" dirty="0"/>
              <a:t>Enable multi-cluster for concurrency</a:t>
            </a:r>
          </a:p>
          <a:p>
            <a:pPr lvl="1"/>
            <a:r>
              <a:rPr lang="en-US" dirty="0"/>
              <a:t>No downtime required.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53927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84D29-B61F-1EFA-8708-1EF17E55E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Problem #3: Cost Inefficiency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31537-E169-C4E6-EFAF-5BBF25AEB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Traditional systems:</a:t>
            </a:r>
          </a:p>
          <a:p>
            <a:pPr lvl="1"/>
            <a:r>
              <a:rPr lang="en-US" dirty="0"/>
              <a:t>Server runs 24/7</a:t>
            </a:r>
          </a:p>
          <a:p>
            <a:pPr lvl="1"/>
            <a:r>
              <a:rPr lang="en-US" dirty="0"/>
              <a:t>Fixed cost</a:t>
            </a:r>
          </a:p>
          <a:p>
            <a:pPr marL="0" indent="0">
              <a:buNone/>
            </a:pPr>
            <a:r>
              <a:rPr lang="en-US" dirty="0"/>
              <a:t>Virtual Warehouses:</a:t>
            </a:r>
          </a:p>
          <a:p>
            <a:pPr lvl="1"/>
            <a:r>
              <a:rPr lang="en-US" dirty="0"/>
              <a:t>Auto suspend when idle</a:t>
            </a:r>
          </a:p>
          <a:p>
            <a:pPr lvl="1"/>
            <a:r>
              <a:rPr lang="en-US" dirty="0"/>
              <a:t>Auto resume when query runs</a:t>
            </a:r>
          </a:p>
          <a:p>
            <a:pPr lvl="1"/>
            <a:r>
              <a:rPr lang="en-US" dirty="0"/>
              <a:t>Charged per second</a:t>
            </a:r>
          </a:p>
          <a:p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CREATE WAREHOUSE </a:t>
            </a:r>
            <a:r>
              <a:rPr lang="en-US" dirty="0" err="1"/>
              <a:t>etl_wh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WAREHOUSE_SIZE = 'SMALL'</a:t>
            </a:r>
          </a:p>
          <a:p>
            <a:pPr marL="0" indent="0">
              <a:buNone/>
            </a:pPr>
            <a:r>
              <a:rPr lang="en-US" dirty="0"/>
              <a:t>AUTO_SUSPEND = 60</a:t>
            </a:r>
          </a:p>
          <a:p>
            <a:pPr marL="0" indent="0">
              <a:buNone/>
            </a:pPr>
            <a:r>
              <a:rPr lang="en-US" dirty="0"/>
              <a:t>AUTO_RESUME = TRUE;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Pay only when queries run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24422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68473-83FD-3D77-5E38-0A923A84E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Core Problem #4: Unpredictable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C39B8-5329-187A-2451-B276C09AD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shared systems:</a:t>
            </a:r>
          </a:p>
          <a:p>
            <a:pPr lvl="1"/>
            <a:r>
              <a:rPr lang="en-US" dirty="0"/>
              <a:t>Query timing unpredictable</a:t>
            </a:r>
          </a:p>
          <a:p>
            <a:pPr lvl="1"/>
            <a:r>
              <a:rPr lang="en-US" dirty="0"/>
              <a:t>Heavy jobs block smaller queries</a:t>
            </a:r>
          </a:p>
          <a:p>
            <a:pPr marL="0" indent="0">
              <a:buNone/>
            </a:pPr>
            <a:r>
              <a:rPr lang="en-US" dirty="0"/>
              <a:t>Virtual Warehouse ensures:</a:t>
            </a:r>
          </a:p>
          <a:p>
            <a:pPr marL="457200" lvl="1" indent="0">
              <a:buNone/>
            </a:pPr>
            <a:r>
              <a:rPr lang="en-US" dirty="0"/>
              <a:t>✔ Dedicated compute</a:t>
            </a:r>
            <a:br>
              <a:rPr lang="en-US" dirty="0"/>
            </a:br>
            <a:r>
              <a:rPr lang="en-US" dirty="0"/>
              <a:t>✔ Predictable performance</a:t>
            </a:r>
            <a:br>
              <a:rPr lang="en-US" dirty="0"/>
            </a:br>
            <a:r>
              <a:rPr lang="en-US" dirty="0"/>
              <a:t>✔ High concurrency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66368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61CD6-0426-11B5-FF5A-5399ADB62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Real-World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EAB83-6BEF-C067-F4A5-9EEF0D1A8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Imagine a company:</a:t>
            </a:r>
          </a:p>
          <a:p>
            <a:pPr lvl="1"/>
            <a:r>
              <a:rPr lang="en-US" dirty="0"/>
              <a:t>9 AM: BI team runs dashboards</a:t>
            </a:r>
          </a:p>
          <a:p>
            <a:pPr lvl="1"/>
            <a:r>
              <a:rPr lang="en-US" dirty="0"/>
              <a:t>10 AM: Data engineers run ETL</a:t>
            </a:r>
          </a:p>
          <a:p>
            <a:pPr lvl="1"/>
            <a:r>
              <a:rPr lang="en-US" dirty="0"/>
              <a:t>11 AM: Data scientists train models</a:t>
            </a:r>
          </a:p>
          <a:p>
            <a:pPr marL="0" indent="0">
              <a:buNone/>
            </a:pPr>
            <a:r>
              <a:rPr lang="en-US" dirty="0"/>
              <a:t>Without Virtual Warehouse:</a:t>
            </a:r>
            <a:br>
              <a:rPr lang="en-US" dirty="0"/>
            </a:br>
            <a:r>
              <a:rPr lang="en-US" dirty="0"/>
              <a:t>	System crashes or slows down.</a:t>
            </a:r>
          </a:p>
          <a:p>
            <a:pPr marL="0" indent="0">
              <a:buNone/>
            </a:pPr>
            <a:r>
              <a:rPr lang="en-US" dirty="0"/>
              <a:t>With Virtual Warehouses:</a:t>
            </a:r>
            <a:br>
              <a:rPr lang="en-US" dirty="0"/>
            </a:br>
            <a:r>
              <a:rPr lang="en-US" dirty="0"/>
              <a:t>	Each team has separate compute clusters.</a:t>
            </a:r>
            <a:br>
              <a:rPr lang="en-US" dirty="0"/>
            </a:br>
            <a:r>
              <a:rPr lang="en-US" dirty="0"/>
              <a:t>	System remains stable.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08086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8B09B-01EA-333A-0BF0-ACE6874AF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18121-C568-DE8D-A413-05EDAB4A1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Virtual Warehouse provides:</a:t>
            </a:r>
          </a:p>
          <a:p>
            <a:pPr marL="457200" lvl="1" indent="0">
              <a:buNone/>
            </a:pPr>
            <a:r>
              <a:rPr lang="en-IN" dirty="0"/>
              <a:t>✔ Workload isolation</a:t>
            </a:r>
            <a:br>
              <a:rPr lang="en-IN" dirty="0"/>
            </a:br>
            <a:r>
              <a:rPr lang="en-IN" dirty="0"/>
              <a:t>✔ Independent scaling</a:t>
            </a:r>
            <a:br>
              <a:rPr lang="en-IN" dirty="0"/>
            </a:br>
            <a:r>
              <a:rPr lang="en-IN" dirty="0"/>
              <a:t>✔ High concurrency</a:t>
            </a:r>
            <a:br>
              <a:rPr lang="en-IN" dirty="0"/>
            </a:br>
            <a:r>
              <a:rPr lang="en-IN" dirty="0"/>
              <a:t>✔ Cost control</a:t>
            </a:r>
            <a:br>
              <a:rPr lang="en-IN" dirty="0"/>
            </a:br>
            <a:r>
              <a:rPr lang="en-IN" dirty="0"/>
              <a:t>✔ Auto suspend/resume</a:t>
            </a:r>
            <a:br>
              <a:rPr lang="en-IN" dirty="0"/>
            </a:br>
            <a:r>
              <a:rPr lang="en-IN" dirty="0"/>
              <a:t>✔ No performance interference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4186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2048</Words>
  <Application>Microsoft Office PowerPoint</Application>
  <PresentationFormat>Widescreen</PresentationFormat>
  <Paragraphs>401</Paragraphs>
  <Slides>36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Calibri Light</vt:lpstr>
      <vt:lpstr>Office Theme</vt:lpstr>
      <vt:lpstr>Snowflake</vt:lpstr>
      <vt:lpstr>What is Snowflake?</vt:lpstr>
      <vt:lpstr>Why Snowflake is Popular?</vt:lpstr>
      <vt:lpstr>Snowflake vs Traditional Databases</vt:lpstr>
      <vt:lpstr>Architecture Difference</vt:lpstr>
      <vt:lpstr>Snowflake Cloud Architecture</vt:lpstr>
      <vt:lpstr>Snowflake Cloud Architecture - Storage Layer </vt:lpstr>
      <vt:lpstr>Snowflake Cloud Architecture - Storage Layer </vt:lpstr>
      <vt:lpstr>Snowflake Cloud Architecture - Compute Layer (Virtual Warehouses)</vt:lpstr>
      <vt:lpstr>Snowflake Cloud Architecture - Cloud Services Layer</vt:lpstr>
      <vt:lpstr>Key Features- Virtual Warehouses</vt:lpstr>
      <vt:lpstr>Key Features- Time Travel</vt:lpstr>
      <vt:lpstr>Key Features- Zero-Copy Cloning</vt:lpstr>
      <vt:lpstr>Key Features- Micro-partitions</vt:lpstr>
      <vt:lpstr>Hands-On Labs (Practical Session)</vt:lpstr>
      <vt:lpstr>LAB 2: Explore Snowflake UI</vt:lpstr>
      <vt:lpstr>LAB 3: Create First Database and Schema</vt:lpstr>
      <vt:lpstr>LAB 3: Create First Database and Schema</vt:lpstr>
      <vt:lpstr>Practice Questions</vt:lpstr>
      <vt:lpstr>Concept Reinforcement Questions</vt:lpstr>
      <vt:lpstr>Why is separation of compute and storage important? </vt:lpstr>
      <vt:lpstr>Independent Scaling (Elasticity) </vt:lpstr>
      <vt:lpstr>Better Performance &amp; Concurrency </vt:lpstr>
      <vt:lpstr>Cost Optimization (Pay for What You Use)</vt:lpstr>
      <vt:lpstr>No Infrastructure Management</vt:lpstr>
      <vt:lpstr>Workload Isolation</vt:lpstr>
      <vt:lpstr>Faster Innovation &amp; Dev/Test Environments</vt:lpstr>
      <vt:lpstr>Separation of compute and storage enables: </vt:lpstr>
      <vt:lpstr>What problem does Virtual Warehouse solve? </vt:lpstr>
      <vt:lpstr>Core Problem #1: Resource Contention</vt:lpstr>
      <vt:lpstr>Virtual Warehouse Solution</vt:lpstr>
      <vt:lpstr>Core Problem #2: Scaling Limitations</vt:lpstr>
      <vt:lpstr>Core Problem #3: Cost Inefficiency</vt:lpstr>
      <vt:lpstr>Core Problem #4: Unpredictable Performance</vt:lpstr>
      <vt:lpstr>Real-World Example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Prabhat Chandra</dc:creator>
  <cp:lastModifiedBy>Prabhat Chandra</cp:lastModifiedBy>
  <cp:revision>6</cp:revision>
  <dcterms:created xsi:type="dcterms:W3CDTF">2026-02-12T03:33:18Z</dcterms:created>
  <dcterms:modified xsi:type="dcterms:W3CDTF">2026-02-12T04:59:27Z</dcterms:modified>
</cp:coreProperties>
</file>